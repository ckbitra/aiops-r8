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3"/>
    <p:sldId id="270" r:id="rId4"/>
    <p:sldId id="268" r:id="rId5"/>
    <p:sldId id="273" r:id="rId6"/>
    <p:sldId id="271" r:id="rId7"/>
    <p:sldId id="261" r:id="rId8"/>
    <p:sldId id="264" r:id="rId9"/>
    <p:sldId id="265" r:id="rId10"/>
    <p:sldId id="266" r:id="rId11"/>
    <p:sldId id="272" r:id="rId12"/>
    <p:sldId id="262" r:id="rId13"/>
    <p:sldId id="263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3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36"/>
    <p:restoredTop sz="94630"/>
  </p:normalViewPr>
  <p:slideViewPr>
    <p:cSldViewPr snapToGrid="0" snapToObjects="1">
      <p:cViewPr varScale="1">
        <p:scale>
          <a:sx n="118" d="100"/>
          <a:sy n="118" d="100"/>
        </p:scale>
        <p:origin x="80" y="3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dirty="0">
                <a:solidFill>
                  <a:schemeClr val="accent6">
                    <a:lumMod val="75000"/>
                  </a:schemeClr>
                </a:solidFill>
              </a:rPr>
              <a:t>AIOps 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HEL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&amp; Windows 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Production-Safe CVE Patching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Architecture &amp;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EFFB5-1BAD-759E-2028-B143E5538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2228F7-69EC-E19E-F15C-E42FA27AA121}"/>
              </a:ext>
            </a:extLst>
          </p:cNvPr>
          <p:cNvSpPr txBox="1"/>
          <p:nvPr/>
        </p:nvSpPr>
        <p:spPr>
          <a:xfrm>
            <a:off x="2699915" y="75749"/>
            <a:ext cx="3089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A13F4"/>
                </a:solidFill>
              </a:rPr>
              <a:t>What the Customer Wants ?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ED912-D614-17EF-D6FB-46B221E37F29}"/>
              </a:ext>
            </a:extLst>
          </p:cNvPr>
          <p:cNvSpPr txBox="1"/>
          <p:nvPr/>
        </p:nvSpPr>
        <p:spPr>
          <a:xfrm>
            <a:off x="173141" y="722079"/>
            <a:ext cx="858940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Automated, production-safe critical CVE patching that scales without risk.</a:t>
            </a:r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0A13F4"/>
                </a:solidFill>
              </a:rPr>
              <a:t>The Core Ask:</a:t>
            </a:r>
          </a:p>
          <a:p>
            <a:endParaRPr lang="en-US" b="1" dirty="0">
              <a:solidFill>
                <a:srgbClr val="0A13F4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Patch only when it matters</a:t>
            </a:r>
            <a:endParaRPr lang="en-US" dirty="0"/>
          </a:p>
          <a:p>
            <a:r>
              <a:rPr lang="en-US" dirty="0"/>
              <a:t>Apply updates only when there are critical CVEs—not every minor update, not on a fixed schedule regardless of risk.</a:t>
            </a:r>
          </a:p>
          <a:p>
            <a:r>
              <a:rPr lang="en-US" dirty="0"/>
              <a:t>CVE = </a:t>
            </a:r>
            <a:r>
              <a:rPr lang="en-US" b="1" dirty="0"/>
              <a:t>Common Vulnerabilities and Exposures.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Stay production-safe</a:t>
            </a:r>
            <a:endParaRPr lang="en-US" dirty="0"/>
          </a:p>
          <a:p>
            <a:r>
              <a:rPr lang="en-US" dirty="0"/>
              <a:t>Limit patching to security-related updates. No feature updates, no optional packages, no changes that could introduce breaking behavior.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Remove manual effort</a:t>
            </a:r>
            <a:endParaRPr lang="en-US" dirty="0"/>
          </a:p>
          <a:p>
            <a:r>
              <a:rPr lang="en-US" dirty="0"/>
              <a:t>No more ad-hoc scripts, inconsistent pre-patch scans, or manual decisions about when to patch.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Use structured, reliable data</a:t>
            </a:r>
            <a:endParaRPr lang="en-US" dirty="0"/>
          </a:p>
          <a:p>
            <a:r>
              <a:rPr lang="en-US" dirty="0"/>
              <a:t>Base patch decisions on authoritative CVE data (severity, affected packages, IDs), not raw command output or custom scripts.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Scale across the fleet</a:t>
            </a:r>
            <a:endParaRPr lang="en-US" dirty="0"/>
          </a:p>
          <a:p>
            <a:r>
              <a:rPr lang="en-US" dirty="0"/>
              <a:t>Support RHEL8 and Windows across many instances without manual per-instance work.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48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22379-B66B-889F-F814-6D87EA3CA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2E937A-671D-E70C-8677-FE9524F73A6A}"/>
              </a:ext>
            </a:extLst>
          </p:cNvPr>
          <p:cNvSpPr txBox="1"/>
          <p:nvPr/>
        </p:nvSpPr>
        <p:spPr>
          <a:xfrm>
            <a:off x="2499721" y="113624"/>
            <a:ext cx="3089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A13F4"/>
                </a:solidFill>
              </a:rPr>
              <a:t>Success Criteria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AFA3CD-2B38-19FC-7FB8-E99E69E2B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7498075"/>
              </p:ext>
            </p:extLst>
          </p:nvPr>
        </p:nvGraphicFramePr>
        <p:xfrm>
          <a:off x="551885" y="612690"/>
          <a:ext cx="7932016" cy="2816310"/>
        </p:xfrm>
        <a:graphic>
          <a:graphicData uri="http://schemas.openxmlformats.org/drawingml/2006/table">
            <a:tbl>
              <a:tblPr/>
              <a:tblGrid>
                <a:gridCol w="1423627">
                  <a:extLst>
                    <a:ext uri="{9D8B030D-6E8A-4147-A177-3AD203B41FA5}">
                      <a16:colId xmlns:a16="http://schemas.microsoft.com/office/drawing/2014/main" val="2275774282"/>
                    </a:ext>
                  </a:extLst>
                </a:gridCol>
                <a:gridCol w="6508389">
                  <a:extLst>
                    <a:ext uri="{9D8B030D-6E8A-4147-A177-3AD203B41FA5}">
                      <a16:colId xmlns:a16="http://schemas.microsoft.com/office/drawing/2014/main" val="3027229116"/>
                    </a:ext>
                  </a:extLst>
                </a:gridCol>
              </a:tblGrid>
              <a:tr h="296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Outcome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9247865"/>
                  </a:ext>
                </a:extLst>
              </a:tr>
              <a:tr h="296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Security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Critical CVEs are patched in a timely way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6791099"/>
                  </a:ext>
                </a:extLst>
              </a:tr>
              <a:tr h="481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Stability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Only security updates are applied; production risk is minimized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615019"/>
                  </a:ext>
                </a:extLst>
              </a:tr>
              <a:tr h="481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Automation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Patching runs on a schedule with minimal human intervention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206317"/>
                  </a:ext>
                </a:extLst>
              </a:tr>
              <a:tr h="519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Visibility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Patch decisions are traceable; reports exist for audit and troubleshooting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3346078"/>
                  </a:ext>
                </a:extLst>
              </a:tr>
              <a:tr h="481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Consistency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Same process for RHEL and Windows, driven by a single workflow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02977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B76B40-EA6B-ACA8-9E70-85FC363EE167}"/>
              </a:ext>
            </a:extLst>
          </p:cNvPr>
          <p:cNvSpPr txBox="1"/>
          <p:nvPr/>
        </p:nvSpPr>
        <p:spPr>
          <a:xfrm>
            <a:off x="286764" y="3846973"/>
            <a:ext cx="870573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“Done” Looks Like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 Critical vulnerabilities are identified automatically from a trusted source (Inspector).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 An AI-driven decision determines whether patching is needed based on severity and context.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 When needed, only security updates are applied—CVE-related patches only.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 RHEL8 and Windows instances are patched in parallel.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 Each run leaves an audit trail and local reports for compliance and debugging.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 The entire flow is automated, repeatable, and deployable via Infrastructure as Code.</a:t>
            </a:r>
          </a:p>
        </p:txBody>
      </p:sp>
    </p:spTree>
    <p:extLst>
      <p:ext uri="{BB962C8B-B14F-4D97-AF65-F5344CB8AC3E}">
        <p14:creationId xmlns:p14="http://schemas.microsoft.com/office/powerpoint/2010/main" val="1810032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B09BC-B7D4-6BD4-46AE-2ABD830F8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85B07-2542-730E-4BA9-D03EAD29A5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152" y="276294"/>
            <a:ext cx="4886120" cy="651264"/>
          </a:xfrm>
        </p:spPr>
        <p:txBody>
          <a:bodyPr>
            <a:normAutofit fontScale="90000"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Production-Safe CVE Patching with </a:t>
            </a:r>
            <a:br>
              <a:rPr lang="en-US" sz="2400" b="1" dirty="0">
                <a:solidFill>
                  <a:srgbClr val="00B050"/>
                </a:solidFill>
              </a:rPr>
            </a:br>
            <a:r>
              <a:rPr lang="en-US" sz="2400" b="1" dirty="0">
                <a:solidFill>
                  <a:srgbClr val="00B050"/>
                </a:solidFill>
              </a:rPr>
              <a:t>AWS Lambda, Inspector, and Bedrock</a:t>
            </a:r>
            <a:br>
              <a:rPr lang="en-US" sz="2400" dirty="0"/>
            </a:br>
            <a:endParaRPr sz="2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16623-090C-73C0-A17B-17C95EA97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4553" y="1465342"/>
            <a:ext cx="7943438" cy="5116364"/>
          </a:xfrm>
        </p:spPr>
        <p:txBody>
          <a:bodyPr>
            <a:no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Automated CVE patching for </a:t>
            </a:r>
            <a:r>
              <a:rPr lang="en-US" sz="2400" b="1" dirty="0">
                <a:solidFill>
                  <a:schemeClr val="tx1"/>
                </a:solidFill>
              </a:rPr>
              <a:t>RHEL8</a:t>
            </a:r>
            <a:r>
              <a:rPr lang="en-US" sz="2400" dirty="0">
                <a:solidFill>
                  <a:schemeClr val="tx1"/>
                </a:solidFill>
              </a:rPr>
              <a:t> and </a:t>
            </a:r>
            <a:r>
              <a:rPr lang="en-US" sz="2400" b="1" dirty="0">
                <a:solidFill>
                  <a:schemeClr val="tx1"/>
                </a:solidFill>
              </a:rPr>
              <a:t>Windows</a:t>
            </a:r>
            <a:r>
              <a:rPr lang="en-US" sz="2400" dirty="0">
                <a:solidFill>
                  <a:schemeClr val="tx1"/>
                </a:solidFill>
              </a:rPr>
              <a:t> servers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Uses </a:t>
            </a:r>
            <a:r>
              <a:rPr lang="en-US" sz="2400" b="1" dirty="0">
                <a:solidFill>
                  <a:schemeClr val="tx1"/>
                </a:solidFill>
              </a:rPr>
              <a:t>Amazon Inspector v2</a:t>
            </a:r>
            <a:r>
              <a:rPr lang="en-US" sz="2400" dirty="0">
                <a:solidFill>
                  <a:schemeClr val="tx1"/>
                </a:solidFill>
              </a:rPr>
              <a:t> for vulnerability scanning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Uses </a:t>
            </a:r>
            <a:r>
              <a:rPr lang="en-US" sz="2400" b="1" dirty="0">
                <a:solidFill>
                  <a:schemeClr val="tx1"/>
                </a:solidFill>
              </a:rPr>
              <a:t>Bedrock</a:t>
            </a:r>
            <a:r>
              <a:rPr lang="en-US" sz="2400" dirty="0">
                <a:solidFill>
                  <a:schemeClr val="tx1"/>
                </a:solidFill>
              </a:rPr>
              <a:t> (Amazon Nova 2 Lite) for AI-driven patch decisions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Orchestrated by </a:t>
            </a:r>
            <a:r>
              <a:rPr lang="en-US" sz="2400" b="1" dirty="0">
                <a:solidFill>
                  <a:schemeClr val="tx1"/>
                </a:solidFill>
              </a:rPr>
              <a:t>Step Functions</a:t>
            </a:r>
            <a:r>
              <a:rPr lang="en-US" sz="2400" dirty="0">
                <a:solidFill>
                  <a:schemeClr val="tx1"/>
                </a:solidFill>
              </a:rPr>
              <a:t>, triggered by </a:t>
            </a:r>
            <a:r>
              <a:rPr lang="en-US" sz="2400" b="1" dirty="0" err="1">
                <a:solidFill>
                  <a:schemeClr val="tx1"/>
                </a:solidFill>
              </a:rPr>
              <a:t>EventBridge</a:t>
            </a:r>
            <a:endParaRPr lang="en-US" sz="2400" dirty="0">
              <a:solidFill>
                <a:schemeClr val="tx1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tx1"/>
                </a:solidFill>
              </a:rPr>
              <a:t>CVE-only</a:t>
            </a:r>
            <a:r>
              <a:rPr lang="en-US" sz="2400" dirty="0">
                <a:solidFill>
                  <a:schemeClr val="tx1"/>
                </a:solidFill>
              </a:rPr>
              <a:t> patching – security updates only, production-safe</a:t>
            </a:r>
          </a:p>
        </p:txBody>
      </p:sp>
    </p:spTree>
    <p:extLst>
      <p:ext uri="{BB962C8B-B14F-4D97-AF65-F5344CB8AC3E}">
        <p14:creationId xmlns:p14="http://schemas.microsoft.com/office/powerpoint/2010/main" val="2547233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FAEA6-9F06-9DDB-9CAC-0A3D140F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07811F-6302-32B9-8898-1A62528DB8A1}"/>
              </a:ext>
            </a:extLst>
          </p:cNvPr>
          <p:cNvSpPr txBox="1"/>
          <p:nvPr/>
        </p:nvSpPr>
        <p:spPr>
          <a:xfrm>
            <a:off x="1677302" y="147759"/>
            <a:ext cx="51157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A13F4"/>
                </a:solidFill>
              </a:rPr>
              <a:t>Guardrails for Patching RHEL8 and Windows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122997-11B7-FF5D-740B-B26DD403089E}"/>
              </a:ext>
            </a:extLst>
          </p:cNvPr>
          <p:cNvSpPr txBox="1"/>
          <p:nvPr/>
        </p:nvSpPr>
        <p:spPr>
          <a:xfrm>
            <a:off x="995559" y="770885"/>
            <a:ext cx="777510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Circuit-Breaker (CVE Block After Reboot Failure).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CVE Analysis (Bedrock)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Pre-Patch AMI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Dry-Run Mode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Maintenance Window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Instance Exclusion (</a:t>
            </a:r>
            <a:r>
              <a:rPr lang="en-US" dirty="0" err="1">
                <a:solidFill>
                  <a:srgbClr val="00B0F0"/>
                </a:solidFill>
              </a:rPr>
              <a:t>PatchExcluded</a:t>
            </a:r>
            <a:r>
              <a:rPr lang="en-US" dirty="0">
                <a:solidFill>
                  <a:srgbClr val="00B0F0"/>
                </a:solidFill>
              </a:rPr>
              <a:t> Tag)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SSM Agent Health Pre-Check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Canary / Phased Rollout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Batched Patching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Failure Detection (Within Run)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Patch Scope (RHEL – Security Only)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Patch Baseline (Windows – CVE Only)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Reboot Behavior (Windows)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Workflow Failure Notification (SNS)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1708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64146-2E6D-11D5-4209-0A7F12044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9538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B8B708-1168-6A3E-4975-A51014E03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26" y="846242"/>
            <a:ext cx="6969567" cy="58943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85390D-17EE-4DE3-4FD4-0FAB6EA41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8643" y="117371"/>
            <a:ext cx="4743449" cy="72887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A13F4"/>
                </a:solidFill>
              </a:rPr>
              <a:t>Current Architecture</a:t>
            </a:r>
            <a:endParaRPr dirty="0">
              <a:solidFill>
                <a:srgbClr val="0A13F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3430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34AC-7680-F908-4558-58A88E5B5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D048C1-3BDF-3E76-A5E3-2DD31B3CC540}"/>
              </a:ext>
            </a:extLst>
          </p:cNvPr>
          <p:cNvSpPr txBox="1"/>
          <p:nvPr/>
        </p:nvSpPr>
        <p:spPr>
          <a:xfrm>
            <a:off x="502470" y="1040178"/>
            <a:ext cx="864153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1. SCHEDULE (</a:t>
            </a:r>
            <a:r>
              <a:rPr lang="en-US" sz="1200" b="1" dirty="0" err="1">
                <a:latin typeface="Courier New" panose="02070309020205020404" pitchFamily="49" charset="0"/>
              </a:rPr>
              <a:t>EventBridge</a:t>
            </a:r>
            <a:r>
              <a:rPr lang="en-US" sz="1200" b="1" dirty="0">
                <a:latin typeface="Courier New" panose="02070309020205020404" pitchFamily="49" charset="0"/>
              </a:rPr>
              <a:t>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</a:t>
            </a:r>
            <a:r>
              <a:rPr lang="en-US" sz="1200" b="1" dirty="0" err="1">
                <a:latin typeface="Courier New" panose="02070309020205020404" pitchFamily="49" charset="0"/>
              </a:rPr>
              <a:t>cron</a:t>
            </a:r>
            <a:r>
              <a:rPr lang="en-US" sz="1200" b="1" dirty="0">
                <a:latin typeface="Courier New" panose="02070309020205020404" pitchFamily="49" charset="0"/>
              </a:rPr>
              <a:t>(0 2 ? * 3#2 *)  →  2:00 AM UTC on 2nd Tuesday (after Patch Tuesday)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2. DISCOVER INSTANCES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Instance Discovery Lambda: by tags (Role=patch-target) or static Terraform IDs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Excludes </a:t>
            </a:r>
            <a:r>
              <a:rPr lang="en-US" sz="1200" b="1" dirty="0" err="1">
                <a:solidFill>
                  <a:schemeClr val="accent6"/>
                </a:solidFill>
                <a:latin typeface="Courier New" panose="02070309020205020404" pitchFamily="49" charset="0"/>
              </a:rPr>
              <a:t>PatchExcluded</a:t>
            </a: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=true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3. CHECK SSM AGENT HEALTH (Lambda)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Filters out instances not in SSM Managed state; sends SNS alert if any excluded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4. FETCH INSPECTOR FINDINGS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Inspector Findings Lambda fetches CVE findings from Amazon Inspector v2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5. ANALYZE (Lambda + Bedrock)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Lambda sends Inspector findings to Bedrock; model analyzes CVEs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Returns </a:t>
            </a:r>
            <a:r>
              <a:rPr lang="en-US" sz="1200" b="1" dirty="0" err="1">
                <a:latin typeface="Courier New" panose="02070309020205020404" pitchFamily="49" charset="0"/>
              </a:rPr>
              <a:t>has_critical_cves</a:t>
            </a:r>
            <a:r>
              <a:rPr lang="en-US" sz="1200" b="1" dirty="0">
                <a:latin typeface="Courier New" panose="02070309020205020404" pitchFamily="49" charset="0"/>
              </a:rPr>
              <a:t> flag + recommendations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6. CHECK MAINTENANCE WINDOW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If outside window → Skip (enabled by default)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7. PREPARE BATCHES + APPLY (Map over batches)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Per batch: Patch → Wait 180s → </a:t>
            </a:r>
            <a:r>
              <a:rPr lang="en-US" sz="1200" b="1" dirty="0" err="1">
                <a:latin typeface="Courier New" panose="02070309020205020404" pitchFamily="49" charset="0"/>
              </a:rPr>
              <a:t>CheckFailure</a:t>
            </a:r>
            <a:r>
              <a:rPr lang="en-US" sz="1200" b="1" dirty="0">
                <a:latin typeface="Courier New" panose="02070309020205020404" pitchFamily="49" charset="0"/>
              </a:rPr>
              <a:t> → continue or abort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Batched patching stops within same run if instance fails to reboot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Canary: first batch uses </a:t>
            </a:r>
            <a:r>
              <a:rPr lang="en-US" sz="1200" b="1" dirty="0" err="1">
                <a:latin typeface="Courier New" panose="02070309020205020404" pitchFamily="49" charset="0"/>
              </a:rPr>
              <a:t>canary_batch_size</a:t>
            </a:r>
            <a:r>
              <a:rPr lang="en-US" sz="1200" b="1" dirty="0">
                <a:latin typeface="Courier New" panose="02070309020205020404" pitchFamily="49" charset="0"/>
              </a:rPr>
              <a:t>, then remaining batches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8. POST-PATCH (Parallel, via Lambda → SSM)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SSM Runner Lambda verifies patches on RHEL8 and Windows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9. COMPLETE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C5C8A8-15ED-A4E6-8948-8C240A25E73F}"/>
              </a:ext>
            </a:extLst>
          </p:cNvPr>
          <p:cNvSpPr txBox="1"/>
          <p:nvPr/>
        </p:nvSpPr>
        <p:spPr>
          <a:xfrm>
            <a:off x="846414" y="193040"/>
            <a:ext cx="69056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Amazon Inspector - Workflow</a:t>
            </a:r>
          </a:p>
        </p:txBody>
      </p:sp>
    </p:spTree>
    <p:extLst>
      <p:ext uri="{BB962C8B-B14F-4D97-AF65-F5344CB8AC3E}">
        <p14:creationId xmlns:p14="http://schemas.microsoft.com/office/powerpoint/2010/main" val="114748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AE146-3C3B-4E51-0616-656C3B81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94C77E-7DC5-586A-B38D-D6C4C3212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696721"/>
            <a:ext cx="8178799" cy="436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587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9EA09F-0DB7-C4A5-5667-89273148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FF99BD-075F-4761-A995-6FC574BD2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B21A54-9BA3-4EA9-B460-5A829ADD9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A8F714-B9D8-488A-8CCA-E9948FF91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599" y="643468"/>
            <a:ext cx="8178800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4BD05B-1AFA-4761-4435-D99944622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244" y="3449688"/>
            <a:ext cx="7683157" cy="236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718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F83B5-3DC2-EE84-339C-18A3C0DF9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37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39BB95E-2AB8-B646-0921-1B5F8BFB2B55}"/>
              </a:ext>
            </a:extLst>
          </p:cNvPr>
          <p:cNvSpPr txBox="1"/>
          <p:nvPr/>
        </p:nvSpPr>
        <p:spPr>
          <a:xfrm>
            <a:off x="541614" y="0"/>
            <a:ext cx="34323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Serverless</a:t>
            </a:r>
            <a:r>
              <a:rPr lang="en-US" sz="1600" b="1" dirty="0">
                <a:solidFill>
                  <a:srgbClr val="0A13F4"/>
                </a:solidFill>
              </a:rPr>
              <a:t> </a:t>
            </a:r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View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605E81-21BE-8EEC-1B3F-9EC46971D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696" y="739569"/>
            <a:ext cx="4022339" cy="598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267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56E8C295-C397-EACB-EC70-FA56F32AD8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8650" y="184806"/>
            <a:ext cx="7886700" cy="9974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fontAlgn="base">
              <a:lnSpc>
                <a:spcPct val="90000"/>
              </a:lnSpc>
              <a:spcAft>
                <a:spcPct val="0"/>
              </a:spcAft>
              <a:buClrTx/>
              <a:buSzTx/>
              <a:tabLst/>
            </a:pPr>
            <a:r>
              <a:rPr kumimoji="0" lang="en-US" altLang="en-US" sz="3100" b="1" i="0" u="none" strike="noStrike" kern="1200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Lambda Functions  </a:t>
            </a:r>
          </a:p>
          <a:p>
            <a:pPr marL="0" marR="0" lvl="0" indent="0" algn="l" defTabSz="914400" fontAlgn="base">
              <a:lnSpc>
                <a:spcPct val="90000"/>
              </a:lnSpc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kern="1200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All Lambda functions used in the aiops-r8 patch workflow.</a:t>
            </a:r>
          </a:p>
          <a:p>
            <a:pPr marL="0" marR="0" lvl="0" indent="0" algn="l" defTabSz="914400" fontAlgn="base">
              <a:lnSpc>
                <a:spcPct val="90000"/>
              </a:lnSpc>
              <a:spcAft>
                <a:spcPct val="0"/>
              </a:spcAft>
              <a:buClrTx/>
              <a:buSzTx/>
              <a:tabLst/>
            </a:pPr>
            <a:endParaRPr kumimoji="0" lang="en-US" altLang="en-US" sz="3100" b="0" i="0" u="none" strike="noStrike" kern="1200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1B87FD6-61D8-1D01-00E6-02D10598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937260"/>
              </p:ext>
            </p:extLst>
          </p:nvPr>
        </p:nvGraphicFramePr>
        <p:xfrm>
          <a:off x="628649" y="1477818"/>
          <a:ext cx="8376805" cy="5195377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867899">
                  <a:extLst>
                    <a:ext uri="{9D8B030D-6E8A-4147-A177-3AD203B41FA5}">
                      <a16:colId xmlns:a16="http://schemas.microsoft.com/office/drawing/2014/main" val="3167625328"/>
                    </a:ext>
                  </a:extLst>
                </a:gridCol>
                <a:gridCol w="2336369">
                  <a:extLst>
                    <a:ext uri="{9D8B030D-6E8A-4147-A177-3AD203B41FA5}">
                      <a16:colId xmlns:a16="http://schemas.microsoft.com/office/drawing/2014/main" val="3645220495"/>
                    </a:ext>
                  </a:extLst>
                </a:gridCol>
                <a:gridCol w="5172537">
                  <a:extLst>
                    <a:ext uri="{9D8B030D-6E8A-4147-A177-3AD203B41FA5}">
                      <a16:colId xmlns:a16="http://schemas.microsoft.com/office/drawing/2014/main" val="3470556923"/>
                    </a:ext>
                  </a:extLst>
                </a:gridCol>
              </a:tblGrid>
              <a:tr h="372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0" cap="none" spc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37743" marR="37743" marT="12131" marB="754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0" cap="none" spc="0">
                          <a:solidFill>
                            <a:schemeClr val="tx1"/>
                          </a:solidFill>
                        </a:rPr>
                        <a:t>Lambda Function</a:t>
                      </a:r>
                    </a:p>
                  </a:txBody>
                  <a:tcPr marL="37743" marR="37743" marT="12131" marB="754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0" cap="none" spc="0">
                          <a:solidFill>
                            <a:schemeClr val="tx1"/>
                          </a:solidFill>
                        </a:rPr>
                        <a:t>One-liner</a:t>
                      </a:r>
                    </a:p>
                  </a:txBody>
                  <a:tcPr marL="37743" marR="37743" marT="12131" marB="754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275261"/>
                  </a:ext>
                </a:extLst>
              </a:tr>
              <a:tr h="49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instance-discovery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Discovers EC2 instances by tags (e.g. </a:t>
                      </a:r>
                      <a:r>
                        <a:rPr lang="en-US" sz="1000" cap="none" spc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</a:rPr>
                        <a:t>Role=patch-target</a:t>
                      </a: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) in the VPC for dynamic fleets.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319803"/>
                  </a:ext>
                </a:extLst>
              </a:tr>
              <a:tr h="313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inspector-findings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Fetches Amazon Inspector v2 CVE findings for EC2 instances.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0385536"/>
                  </a:ext>
                </a:extLst>
              </a:tr>
              <a:tr h="313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cve-analyzer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Uses Bedrock to analyze CVEs and decide if critical patches are needed.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586354"/>
                  </a:ext>
                </a:extLst>
              </a:tr>
              <a:tr h="49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ssm-runner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Runs SSM commands for patching, checks blocked CVEs, creates pre-patch AMIs, and records executions.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803563"/>
                  </a:ext>
                </a:extLst>
              </a:tr>
              <a:tr h="49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ssm-agent-health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Verifies instances are SSM-managed and online before patching; filters out unhealthy instances.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650673"/>
                  </a:ext>
                </a:extLst>
              </a:tr>
              <a:tr h="313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batch-prepare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Splits instance IDs into batches and prepares patch context for RHEL and Windows.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4426567"/>
                  </a:ext>
                </a:extLst>
              </a:tr>
              <a:tr h="313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get-batch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Returns the batch at the given index for the batched patching loop.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217798"/>
                  </a:ext>
                </a:extLst>
              </a:tr>
              <a:tr h="49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failure-check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Checks if any recently patched instance has stopped before proceeding to the next batch.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282805"/>
                  </a:ext>
                </a:extLst>
              </a:tr>
              <a:tr h="313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maintenance-window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Checks if the current time is within the configured maintenance window.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879003"/>
                  </a:ext>
                </a:extLst>
              </a:tr>
              <a:tr h="49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ec2-stopped-handler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Circuit-breaker: when an instance stops, checks if it was recently patched and records CVEs to block future patches.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0942110"/>
                  </a:ext>
                </a:extLst>
              </a:tr>
              <a:tr h="313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>
                          <a:solidFill>
                            <a:schemeClr val="tx1"/>
                          </a:solidFill>
                        </a:rPr>
                        <a:t>ami-cleanup</a:t>
                      </a:r>
                      <a:endParaRPr lang="en-US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Deregisters old pre-patch AMIs and deletes snapshots beyond the retention period.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648924"/>
                  </a:ext>
                </a:extLst>
              </a:tr>
              <a:tr h="490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cap="none" spc="0" dirty="0" err="1">
                          <a:solidFill>
                            <a:schemeClr val="tx1"/>
                          </a:solidFill>
                        </a:rPr>
                        <a:t>sfn</a:t>
                      </a:r>
                      <a:r>
                        <a:rPr lang="en-US" sz="1000" b="1" cap="none" spc="0" dirty="0">
                          <a:solidFill>
                            <a:schemeClr val="tx1"/>
                          </a:solidFill>
                        </a:rPr>
                        <a:t>-failure-notifier</a:t>
                      </a:r>
                      <a:endParaRPr lang="en-US" sz="1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cap="none" spc="0" dirty="0">
                          <a:solidFill>
                            <a:schemeClr val="tx1"/>
                          </a:solidFill>
                        </a:rPr>
                        <a:t>Sends an SNS alert when the patch workflow Step Functions execution fails, aborts, or times out.</a:t>
                      </a:r>
                    </a:p>
                  </a:txBody>
                  <a:tcPr marL="37743" marR="37743" marT="12131" marB="7548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7088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92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35943-D1E7-B9CD-D124-10969D53A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8A009D5-3605-0DEE-6A0D-AE37CF686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350" y="0"/>
            <a:ext cx="6363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07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912</Words>
  <Application>Microsoft Office PowerPoint</Application>
  <PresentationFormat>On-screen Show (4:3)</PresentationFormat>
  <Paragraphs>132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AIOps RHEL8 &amp; Windows Production-Safe CVE Patching</vt:lpstr>
      <vt:lpstr>PowerPoint Presentation</vt:lpstr>
      <vt:lpstr>PowerPoint Presentation</vt:lpstr>
      <vt:lpstr>Production-Safe CVE Patching with  AWS Lambda, Inspector, and Bedrock </vt:lpstr>
      <vt:lpstr>PowerPoint Presentation</vt:lpstr>
      <vt:lpstr>PowerPoint Presentation</vt:lpstr>
      <vt:lpstr>Current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Lambda Functions   All Lambda functions used in the aiops-r8 patch workflow. 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Chandra Bitra</cp:lastModifiedBy>
  <cp:revision>18</cp:revision>
  <dcterms:created xsi:type="dcterms:W3CDTF">2013-01-27T09:14:16Z</dcterms:created>
  <dcterms:modified xsi:type="dcterms:W3CDTF">2026-03-11T15:08:10Z</dcterms:modified>
  <cp:category/>
</cp:coreProperties>
</file>