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AIOps R8 – Production-Safe CVE Patching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&amp;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Component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>
                <a:latin typeface="Courier New"/>
              </a:rPr>
              <a:t>flowchart TB</a:t>
            </a:r>
          </a:p>
          <a:p>
            <a:r>
              <a:rPr sz="1000">
                <a:latin typeface="Courier New"/>
              </a:rPr>
              <a:t>    subgraph Title["AIOps R8 - Production-Safe CVE Patching"]</a:t>
            </a:r>
          </a:p>
          <a:p>
            <a:r>
              <a:rPr sz="1000">
                <a:latin typeface="Courier New"/>
              </a:rPr>
              <a:t>        direction TB</a:t>
            </a:r>
          </a:p>
          <a:p>
            <a:r>
              <a:rPr sz="1000">
                <a:latin typeface="Courier New"/>
              </a:rPr>
              <a:t>        A["Automated CVE patching"]</a:t>
            </a:r>
          </a:p>
          <a:p>
            <a:r>
              <a:rPr sz="1000">
                <a:latin typeface="Courier New"/>
              </a:rPr>
              <a:t>        B["RHEL8 + Windows"]</a:t>
            </a:r>
          </a:p>
          <a:p>
            <a:r>
              <a:rPr sz="1000">
                <a:latin typeface="Courier New"/>
              </a:rPr>
              <a:t>        C["Amazon Inspector v2"]</a:t>
            </a:r>
          </a:p>
          <a:p>
            <a:r>
              <a:rPr sz="1000">
                <a:latin typeface="Courier New"/>
              </a:rPr>
              <a:t>        D["Bedrock (Nova 2 Lite)"]</a:t>
            </a:r>
          </a:p>
          <a:p>
            <a:r>
              <a:rPr sz="1000">
                <a:latin typeface="Courier New"/>
              </a:rPr>
              <a:t>        E["Step Functions + EventBridge"]</a:t>
            </a:r>
          </a:p>
          <a:p>
            <a:r>
              <a:rPr sz="1000">
                <a:latin typeface="Courier New"/>
              </a:rPr>
              <a:t>        F["CVE-only, production-safe"]</a:t>
            </a:r>
          </a:p>
          <a:p>
            <a:r>
              <a:rPr sz="1000">
                <a:latin typeface="Courier New"/>
              </a:rPr>
              <a:t>    end</a:t>
            </a:r>
          </a:p>
          <a:p>
            <a:r>
              <a:rPr sz="1000">
                <a:latin typeface="Courier New"/>
              </a:rPr>
              <a:t>    A --&gt; B</a:t>
            </a:r>
          </a:p>
          <a:p>
            <a:r>
              <a:rPr sz="1000">
                <a:latin typeface="Courier New"/>
              </a:rPr>
              <a:t>    B --&gt; C</a:t>
            </a:r>
          </a:p>
          <a:p>
            <a:r>
              <a:rPr sz="1000">
                <a:latin typeface="Courier New"/>
              </a:rPr>
              <a:t>    C --&gt; D</a:t>
            </a:r>
          </a:p>
          <a:p>
            <a:r>
              <a:rPr sz="1000">
                <a:latin typeface="Courier New"/>
              </a:rPr>
              <a:t>    D --&gt; E</a:t>
            </a:r>
          </a:p>
          <a:p>
            <a:r>
              <a:rPr sz="1000">
                <a:latin typeface="Courier New"/>
              </a:rPr>
              <a:t>    E --&gt; 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The Problem –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>
                <a:latin typeface="Courier New"/>
              </a:rPr>
              <a:t>flowchart LR</a:t>
            </a:r>
          </a:p>
          <a:p>
            <a:r>
              <a:rPr sz="1000">
                <a:latin typeface="Courier New"/>
              </a:rPr>
              <a:t>    subgraph Problems["The Problem"]</a:t>
            </a:r>
          </a:p>
          <a:p>
            <a:r>
              <a:rPr sz="1000">
                <a:latin typeface="Courier New"/>
              </a:rPr>
              <a:t>        P1["Manual patching&lt;br/&gt;Error-prone, doesn't scale"]</a:t>
            </a:r>
          </a:p>
          <a:p>
            <a:r>
              <a:rPr sz="1000">
                <a:latin typeface="Courier New"/>
              </a:rPr>
              <a:t>        P2["Blind automation&lt;br/&gt;Unnecessary risk"]</a:t>
            </a:r>
          </a:p>
          <a:p>
            <a:r>
              <a:rPr sz="1000">
                <a:latin typeface="Courier New"/>
              </a:rPr>
              <a:t>        P3["Pre-patch scripts&lt;br/&gt;Inconsistent, hard to maintain"]</a:t>
            </a:r>
          </a:p>
          <a:p>
            <a:r>
              <a:rPr sz="1000">
                <a:latin typeface="Courier New"/>
              </a:rPr>
              <a:t>        P4["Need smart decision&lt;br/&gt;When to patch?"]</a:t>
            </a:r>
          </a:p>
          <a:p>
            <a:r>
              <a:rPr sz="1000">
                <a:latin typeface="Courier New"/>
              </a:rPr>
              <a:t>    end</a:t>
            </a:r>
          </a:p>
          <a:p>
            <a:r>
              <a:rPr sz="1000">
                <a:latin typeface="Courier New"/>
              </a:rPr>
              <a:t>    P1 --&gt; P4</a:t>
            </a:r>
          </a:p>
          <a:p>
            <a:r>
              <a:rPr sz="1000">
                <a:latin typeface="Courier New"/>
              </a:rPr>
              <a:t>    P2 --&gt; P4</a:t>
            </a:r>
          </a:p>
          <a:p>
            <a:r>
              <a:rPr sz="1000">
                <a:latin typeface="Courier New"/>
              </a:rPr>
              <a:t>    P3 --&gt; P4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The Solution – 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>
                <a:latin typeface="Courier New"/>
              </a:rPr>
              <a:t>flowchart TB</a:t>
            </a:r>
          </a:p>
          <a:p>
            <a:r>
              <a:rPr sz="1000">
                <a:latin typeface="Courier New"/>
              </a:rPr>
              <a:t>    EB["EventBridge&lt;br/&gt;monthly schedule"]</a:t>
            </a:r>
          </a:p>
          <a:p>
            <a:r>
              <a:rPr sz="1000">
                <a:latin typeface="Courier New"/>
              </a:rPr>
              <a:t>    SF["Step Functions"]</a:t>
            </a:r>
          </a:p>
          <a:p>
            <a:r>
              <a:rPr sz="1000">
                <a:latin typeface="Courier New"/>
              </a:rPr>
              <a:t>    L1["1. Fetch Inspector findings&lt;br/&gt;Lambda"]</a:t>
            </a:r>
          </a:p>
          <a:p>
            <a:r>
              <a:rPr sz="1000">
                <a:latin typeface="Courier New"/>
              </a:rPr>
              <a:t>    L2["2. Analyze with Bedrock&lt;br/&gt;Lambda"]</a:t>
            </a:r>
          </a:p>
          <a:p>
            <a:r>
              <a:rPr sz="1000">
                <a:latin typeface="Courier New"/>
              </a:rPr>
              <a:t>    CHOICE{"3. Critical CVEs?"}</a:t>
            </a:r>
          </a:p>
          <a:p>
            <a:r>
              <a:rPr sz="1000">
                <a:latin typeface="Courier New"/>
              </a:rPr>
              <a:t>    APPLY["4. Apply patches&lt;br/&gt;Parallel: RHEL + Windows via SSM&lt;br/&gt;Circuit-breaker check, pre-patch AMIs"]</a:t>
            </a:r>
          </a:p>
          <a:p>
            <a:r>
              <a:rPr sz="1000">
                <a:latin typeface="Courier New"/>
              </a:rPr>
              <a:t>    POST["5. Post-patch verification&lt;br/&gt;Parallel"]</a:t>
            </a:r>
          </a:p>
          <a:p>
            <a:r>
              <a:rPr sz="1000">
                <a:latin typeface="Courier New"/>
              </a:rPr>
              <a:t>    SKIP["NotifyNoPatch&lt;br/&gt;Skip"]</a:t>
            </a:r>
          </a:p>
          <a:p>
            <a:r>
              <a:rPr sz="1000">
                <a:latin typeface="Courier New"/>
              </a:rPr>
              <a:t>    CB["Circuit-breaker: EC2 stopped → block CVE"]</a:t>
            </a:r>
          </a:p>
          <a:p>
            <a:r>
              <a:rPr sz="1000">
                <a:latin typeface="Courier New"/>
              </a:rPr>
              <a:t>    AMI["AMI cleanup: daily"]</a:t>
            </a:r>
          </a:p>
          <a:p/>
          <a:p>
            <a:r>
              <a:rPr sz="1000">
                <a:latin typeface="Courier New"/>
              </a:rPr>
              <a:t>    EB --&gt;|Trigger| SF</a:t>
            </a:r>
          </a:p>
          <a:p>
            <a:r>
              <a:rPr sz="1000">
                <a:latin typeface="Courier New"/>
              </a:rPr>
              <a:t>    SF --&gt; L1</a:t>
            </a:r>
          </a:p>
          <a:p>
            <a:r>
              <a:rPr sz="1000">
                <a:latin typeface="Courier New"/>
              </a:rPr>
              <a:t>    L1 --&gt; L2</a:t>
            </a:r>
          </a:p>
          <a:p>
            <a:r>
              <a:rPr sz="1000">
                <a:latin typeface="Courier New"/>
              </a:rPr>
              <a:t>    L2 --&gt; CHOICE</a:t>
            </a:r>
          </a:p>
          <a:p>
            <a:r>
              <a:rPr sz="1000">
                <a:latin typeface="Courier New"/>
              </a:rPr>
              <a:t>    CHOICE --&gt;|Yes| APPLY</a:t>
            </a:r>
          </a:p>
          <a:p>
            <a:r>
              <a:rPr sz="1000">
                <a:latin typeface="Courier New"/>
              </a:rPr>
              <a:t>    CHOICE --&gt;|No| SKIP</a:t>
            </a:r>
          </a:p>
          <a:p>
            <a:r>
              <a:rPr sz="1000">
                <a:latin typeface="Courier New"/>
              </a:rPr>
              <a:t>    APPLY --&gt; POST</a:t>
            </a:r>
          </a:p>
          <a:p>
            <a:r>
              <a:rPr sz="1000">
                <a:latin typeface="Courier New"/>
              </a:rPr>
              <a:t>    APPLY -.-&gt;|on failure| CB</a:t>
            </a:r>
          </a:p>
          <a:p>
            <a:r>
              <a:rPr sz="1000">
                <a:latin typeface="Courier New"/>
              </a:rPr>
              <a:t>    CB -.-&gt; AMI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Architecture – 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>
                <a:latin typeface="Courier New"/>
              </a:rPr>
              <a:t>flowchart TB</a:t>
            </a:r>
          </a:p>
          <a:p>
            <a:r>
              <a:rPr sz="1000">
                <a:latin typeface="Courier New"/>
              </a:rPr>
              <a:t>    subgraph Data["Data Layer"]</a:t>
            </a:r>
          </a:p>
          <a:p>
            <a:r>
              <a:rPr sz="1000">
                <a:latin typeface="Courier New"/>
              </a:rPr>
              <a:t>        INSP["Amazon Inspector v2&lt;br/&gt;Discovers EC2, scans CVEs, stores findings"]</a:t>
            </a:r>
          </a:p>
          <a:p>
            <a:r>
              <a:rPr sz="1000">
                <a:latin typeface="Courier New"/>
              </a:rPr>
              <a:t>    end</a:t>
            </a:r>
          </a:p>
          <a:p/>
          <a:p>
            <a:r>
              <a:rPr sz="1000">
                <a:latin typeface="Courier New"/>
              </a:rPr>
              <a:t>    subgraph Orchestration["Orchestration"]</a:t>
            </a:r>
          </a:p>
          <a:p>
            <a:r>
              <a:rPr sz="1000">
                <a:latin typeface="Courier New"/>
              </a:rPr>
              <a:t>        SF["Step Functions&lt;br/&gt;Orchestrates, Choice gates patching"]</a:t>
            </a:r>
          </a:p>
          <a:p>
            <a:r>
              <a:rPr sz="1000">
                <a:latin typeface="Courier New"/>
              </a:rPr>
              <a:t>    end</a:t>
            </a:r>
          </a:p>
          <a:p/>
          <a:p>
            <a:r>
              <a:rPr sz="1000">
                <a:latin typeface="Courier New"/>
              </a:rPr>
              <a:t>    subgraph Lambdas["Lambda Layer"]</a:t>
            </a:r>
          </a:p>
          <a:p>
            <a:r>
              <a:rPr sz="1000">
                <a:latin typeface="Courier New"/>
              </a:rPr>
              <a:t>        L_INSP["Inspector Findings Lambda&lt;br/&gt;ListFindings API, filter by VPC"]</a:t>
            </a:r>
          </a:p>
          <a:p>
            <a:r>
              <a:rPr sz="1000">
                <a:latin typeface="Courier New"/>
              </a:rPr>
              <a:t>        L_ANALYZER["CVE Analyzer Lambda&lt;br/&gt;Bedrock → has_critical_cves"]</a:t>
            </a:r>
          </a:p>
          <a:p>
            <a:r>
              <a:rPr sz="1000">
                <a:latin typeface="Courier New"/>
              </a:rPr>
              <a:t>        L_SSM["SSM Runner Lambda&lt;br/&gt;Invokes SSM Run Command"]</a:t>
            </a:r>
          </a:p>
          <a:p>
            <a:r>
              <a:rPr sz="1000">
                <a:latin typeface="Courier New"/>
              </a:rPr>
              <a:t>    end</a:t>
            </a:r>
          </a:p>
          <a:p/>
          <a:p>
            <a:r>
              <a:rPr sz="1000">
                <a:latin typeface="Courier New"/>
              </a:rPr>
              <a:t>    subgraph AI["AI"]</a:t>
            </a:r>
          </a:p>
          <a:p>
            <a:r>
              <a:rPr sz="1000">
                <a:latin typeface="Courier New"/>
              </a:rPr>
              <a:t>        BEDROCK["Bedrock&lt;br/&gt;Analyzes severity, patch/no-patch"]</a:t>
            </a:r>
          </a:p>
          <a:p>
            <a:r>
              <a:rPr sz="1000">
                <a:latin typeface="Courier New"/>
              </a:rPr>
              <a:t>    end</a:t>
            </a:r>
          </a:p>
          <a:p/>
          <a:p>
            <a:r>
              <a:rPr sz="1000">
                <a:latin typeface="Courier New"/>
              </a:rPr>
              <a:t>    subgraph Execution["Execution"]</a:t>
            </a:r>
          </a:p>
          <a:p>
            <a:r>
              <a:rPr sz="1000">
                <a:latin typeface="Courier New"/>
              </a:rPr>
              <a:t>        SSM["Systems Manager&lt;br/&gt;dnf update --security (RHEL)&lt;br/&gt;Patch Baseline (Windows)"]</a:t>
            </a:r>
          </a:p>
          <a:p>
            <a:r>
              <a:rPr sz="1000">
                <a:latin typeface="Courier New"/>
              </a:rPr>
              <a:t>    end</a:t>
            </a:r>
          </a:p>
          <a:p/>
          <a:p>
            <a:r>
              <a:rPr sz="1000">
                <a:latin typeface="Courier New"/>
              </a:rPr>
              <a:t>    SF --&gt; L_INSP</a:t>
            </a:r>
          </a:p>
          <a:p>
            <a:r>
              <a:rPr sz="1000">
                <a:latin typeface="Courier New"/>
              </a:rPr>
              <a:t>    L_INSP --&gt; INSP</a:t>
            </a:r>
          </a:p>
          <a:p>
            <a:r>
              <a:rPr sz="1000">
                <a:latin typeface="Courier New"/>
              </a:rPr>
              <a:t>    SF --&gt; L_ANALYZER</a:t>
            </a:r>
          </a:p>
          <a:p>
            <a:r>
              <a:rPr sz="1000">
                <a:latin typeface="Courier New"/>
              </a:rPr>
              <a:t>    L_ANALYZER --&gt; BEDROCK</a:t>
            </a:r>
          </a:p>
          <a:p>
            <a:r>
              <a:rPr sz="1000">
                <a:latin typeface="Courier New"/>
              </a:rPr>
              <a:t>    SF --&gt; L_SSM</a:t>
            </a:r>
          </a:p>
          <a:p>
            <a:r>
              <a:rPr sz="1000">
                <a:latin typeface="Courier New"/>
              </a:rPr>
              <a:t>    L_SSM --&gt; SSM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