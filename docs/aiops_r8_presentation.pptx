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62" r:id="rId4"/>
    <p:sldId id="263" r:id="rId5"/>
    <p:sldId id="264" r:id="rId6"/>
    <p:sldId id="257" r:id="rId7"/>
    <p:sldId id="258" r:id="rId8"/>
    <p:sldId id="259" r:id="rId9"/>
    <p:sldId id="260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13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19"/>
    <p:restoredTop sz="94690"/>
  </p:normalViewPr>
  <p:slideViewPr>
    <p:cSldViewPr snapToGrid="0" snapToObjects="1">
      <p:cViewPr varScale="1">
        <p:scale>
          <a:sx n="125" d="100"/>
          <a:sy n="125" d="100"/>
        </p:scale>
        <p:origin x="1216" y="4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dirty="0">
                <a:solidFill>
                  <a:schemeClr val="accent6">
                    <a:lumMod val="75000"/>
                  </a:schemeClr>
                </a:solidFill>
              </a:rPr>
              <a:t>AIOps R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HEL</a:t>
            </a:r>
            <a:r>
              <a:rPr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&amp; Windows </a:t>
            </a:r>
            <a:r>
              <a:rPr dirty="0">
                <a:solidFill>
                  <a:schemeClr val="accent6">
                    <a:lumMod val="75000"/>
                  </a:schemeClr>
                </a:solidFill>
              </a:rPr>
              <a:t>Production-Safe CVE Patching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Architecture &amp; 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5B8B708-1168-6A3E-4975-A51014E03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8226" y="846242"/>
            <a:ext cx="6969567" cy="58943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85390D-17EE-4DE3-4FD4-0FAB6EA41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8643" y="117371"/>
            <a:ext cx="4743449" cy="72887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0A13F4"/>
                </a:solidFill>
              </a:rPr>
              <a:t>Current Architecture</a:t>
            </a:r>
            <a:endParaRPr dirty="0">
              <a:solidFill>
                <a:srgbClr val="0A13F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34306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E39BB95E-2AB8-B646-0921-1B5F8BFB2B55}"/>
              </a:ext>
            </a:extLst>
          </p:cNvPr>
          <p:cNvSpPr txBox="1"/>
          <p:nvPr/>
        </p:nvSpPr>
        <p:spPr>
          <a:xfrm>
            <a:off x="541614" y="0"/>
            <a:ext cx="34323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0A13F4"/>
                </a:solidFill>
                <a:latin typeface="+mj-lt"/>
                <a:ea typeface="+mj-ea"/>
                <a:cs typeface="+mj-cs"/>
              </a:rPr>
              <a:t>Serverless</a:t>
            </a:r>
            <a:r>
              <a:rPr lang="en-US" sz="1600" b="1" dirty="0">
                <a:solidFill>
                  <a:srgbClr val="0A13F4"/>
                </a:solidFill>
              </a:rPr>
              <a:t> </a:t>
            </a:r>
            <a:r>
              <a:rPr lang="en-US" sz="4000" dirty="0">
                <a:solidFill>
                  <a:srgbClr val="0A13F4"/>
                </a:solidFill>
                <a:latin typeface="+mj-lt"/>
                <a:ea typeface="+mj-ea"/>
                <a:cs typeface="+mj-cs"/>
              </a:rPr>
              <a:t>View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E605E81-21BE-8EEC-1B3F-9EC46971D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696" y="739569"/>
            <a:ext cx="4022339" cy="5985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7267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568C6-3FB2-E532-45A4-8D8F03ACB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3DCF6F-877E-1365-9AFE-241DA934DB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500" y="3429000"/>
            <a:ext cx="3873500" cy="265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2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834AC-7680-F908-4558-58A88E5B5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D048C1-3BDF-3E76-A5E3-2DD31B3CC540}"/>
              </a:ext>
            </a:extLst>
          </p:cNvPr>
          <p:cNvSpPr txBox="1"/>
          <p:nvPr/>
        </p:nvSpPr>
        <p:spPr>
          <a:xfrm>
            <a:off x="502470" y="1040178"/>
            <a:ext cx="8641530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1. SCHEDULE (</a:t>
            </a:r>
            <a:r>
              <a:rPr lang="en-US" sz="1200" b="1" dirty="0" err="1">
                <a:latin typeface="Courier New" panose="02070309020205020404" pitchFamily="49" charset="0"/>
              </a:rPr>
              <a:t>EventBridge</a:t>
            </a:r>
            <a:r>
              <a:rPr lang="en-US" sz="1200" b="1" dirty="0">
                <a:latin typeface="Courier New" panose="02070309020205020404" pitchFamily="49" charset="0"/>
              </a:rPr>
              <a:t>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</a:t>
            </a:r>
            <a:r>
              <a:rPr lang="en-US" sz="1200" b="1" dirty="0" err="1">
                <a:latin typeface="Courier New" panose="02070309020205020404" pitchFamily="49" charset="0"/>
              </a:rPr>
              <a:t>cron</a:t>
            </a:r>
            <a:r>
              <a:rPr lang="en-US" sz="1200" b="1" dirty="0">
                <a:latin typeface="Courier New" panose="02070309020205020404" pitchFamily="49" charset="0"/>
              </a:rPr>
              <a:t>(0 2 ? * 3#2 *)  →  2:00 AM UTC on 2nd Tuesday (after Patch Tuesday)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2. DISCOVER INSTANCES (Lambda)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   │  Instance Discovery Lambda: by tags (Role=patch-target) or static Terraform IDs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   │  Excludes </a:t>
            </a:r>
            <a:r>
              <a:rPr lang="en-US" sz="1200" b="1" dirty="0" err="1">
                <a:solidFill>
                  <a:schemeClr val="accent6"/>
                </a:solidFill>
                <a:latin typeface="Courier New" panose="02070309020205020404" pitchFamily="49" charset="0"/>
              </a:rPr>
              <a:t>PatchExcluded</a:t>
            </a: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=true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3. CHECK SSM AGENT HEALTH (Lambda)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Filters out instances not in SSM Managed state; sends SNS alert if any excluded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4. FETCH INSPECTOR FINDINGS (Lambda)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   │  Inspector Findings Lambda fetches CVE findings from Amazon Inspector v2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5. ANALYZE (Lambda + Bedrock)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Lambda sends Inspector findings to Bedrock; model analyzes CVEs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Returns </a:t>
            </a:r>
            <a:r>
              <a:rPr lang="en-US" sz="1200" b="1" dirty="0" err="1">
                <a:latin typeface="Courier New" panose="02070309020205020404" pitchFamily="49" charset="0"/>
              </a:rPr>
              <a:t>has_critical_cves</a:t>
            </a:r>
            <a:r>
              <a:rPr lang="en-US" sz="1200" b="1" dirty="0">
                <a:latin typeface="Courier New" panose="02070309020205020404" pitchFamily="49" charset="0"/>
              </a:rPr>
              <a:t> flag + recommendations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6. CHECK MAINTENANCE WINDOW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   │  If outside window → Skip (enabled by default)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7. PREPARE BATCHES + APPLY (Map over batches)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Per batch: Patch → Wait 180s → </a:t>
            </a:r>
            <a:r>
              <a:rPr lang="en-US" sz="1200" b="1" dirty="0" err="1">
                <a:latin typeface="Courier New" panose="02070309020205020404" pitchFamily="49" charset="0"/>
              </a:rPr>
              <a:t>CheckFailure</a:t>
            </a:r>
            <a:r>
              <a:rPr lang="en-US" sz="1200" b="1" dirty="0">
                <a:latin typeface="Courier New" panose="02070309020205020404" pitchFamily="49" charset="0"/>
              </a:rPr>
              <a:t> → continue or abort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Batched patching stops within same run if instance fails to reboot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Canary: first batch uses </a:t>
            </a:r>
            <a:r>
              <a:rPr lang="en-US" sz="1200" b="1" dirty="0" err="1">
                <a:latin typeface="Courier New" panose="02070309020205020404" pitchFamily="49" charset="0"/>
              </a:rPr>
              <a:t>canary_batch_size</a:t>
            </a:r>
            <a:r>
              <a:rPr lang="en-US" sz="1200" b="1" dirty="0">
                <a:latin typeface="Courier New" panose="02070309020205020404" pitchFamily="49" charset="0"/>
              </a:rPr>
              <a:t>, then remaining batches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8. POST-PATCH (Parallel, via Lambda → SSM)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   │  SSM Runner Lambda verifies patches on RHEL8 and Windows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9. COMPLETE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C5C8A8-15ED-A4E6-8948-8C240A25E73F}"/>
              </a:ext>
            </a:extLst>
          </p:cNvPr>
          <p:cNvSpPr txBox="1"/>
          <p:nvPr/>
        </p:nvSpPr>
        <p:spPr>
          <a:xfrm>
            <a:off x="846414" y="193040"/>
            <a:ext cx="69056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0A13F4"/>
                </a:solidFill>
                <a:latin typeface="+mj-lt"/>
                <a:ea typeface="+mj-ea"/>
                <a:cs typeface="+mj-cs"/>
              </a:rPr>
              <a:t>Amazon Inspector - Workflow</a:t>
            </a:r>
          </a:p>
        </p:txBody>
      </p:sp>
    </p:spTree>
    <p:extLst>
      <p:ext uri="{BB962C8B-B14F-4D97-AF65-F5344CB8AC3E}">
        <p14:creationId xmlns:p14="http://schemas.microsoft.com/office/powerpoint/2010/main" val="114748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Component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000" b="1" dirty="0"/>
              <a:t>What the Customer Wants</a:t>
            </a:r>
          </a:p>
          <a:p>
            <a:r>
              <a:rPr lang="en-US" sz="1000" b="1" dirty="0"/>
              <a:t>Automated, production-safe CVE patching that scales without risk.</a:t>
            </a:r>
            <a:endParaRPr lang="en-US" sz="1000" dirty="0"/>
          </a:p>
          <a:p>
            <a:r>
              <a:rPr lang="en-US" sz="1000" dirty="0"/>
              <a:t>The customer needs to keep RHEL8 and Windows servers secure by applying critical security patches, while avoiding the operational risk and downtime that comes from blind or manual patching.</a:t>
            </a:r>
          </a:p>
          <a:p>
            <a:pPr marL="0" indent="0">
              <a:buNone/>
            </a:pPr>
            <a:br>
              <a:rPr lang="en-US" sz="1000" dirty="0"/>
            </a:br>
            <a:endParaRPr lang="en-US" sz="1000" dirty="0"/>
          </a:p>
          <a:p>
            <a:r>
              <a:rPr lang="en-US" sz="1000" b="1" dirty="0"/>
              <a:t>The Core Ask</a:t>
            </a:r>
          </a:p>
          <a:p>
            <a:r>
              <a:rPr lang="en-US" sz="1000" b="1" dirty="0"/>
              <a:t>Patch only when it matters</a:t>
            </a:r>
            <a:endParaRPr lang="en-US" sz="1000" dirty="0"/>
          </a:p>
          <a:p>
            <a:r>
              <a:rPr lang="en-US" sz="1000" dirty="0"/>
              <a:t>Apply updates only when there are critical CVEs—not every minor update, not on a fixed schedule regardless of risk.</a:t>
            </a:r>
          </a:p>
          <a:p>
            <a:r>
              <a:rPr lang="en-US" sz="1000" b="1" dirty="0"/>
              <a:t>Stay production-safe</a:t>
            </a:r>
            <a:endParaRPr lang="en-US" sz="1000" dirty="0"/>
          </a:p>
          <a:p>
            <a:r>
              <a:rPr lang="en-US" sz="1000" dirty="0"/>
              <a:t>Limit patching to security-related updates. No feature updates, no optional packages, no changes that could introduce breaking behavior.</a:t>
            </a:r>
          </a:p>
          <a:p>
            <a:r>
              <a:rPr lang="en-US" sz="1000" b="1" dirty="0"/>
              <a:t>Remove manual effort</a:t>
            </a:r>
            <a:endParaRPr lang="en-US" sz="1000" dirty="0"/>
          </a:p>
          <a:p>
            <a:r>
              <a:rPr lang="en-US" sz="1000" dirty="0"/>
              <a:t>No more ad-hoc scripts, inconsistent pre-patch scans, or manual decisions about when to patch.</a:t>
            </a:r>
          </a:p>
          <a:p>
            <a:r>
              <a:rPr lang="en-US" sz="1000" b="1" dirty="0"/>
              <a:t>Use structured, reliable data</a:t>
            </a:r>
            <a:endParaRPr lang="en-US" sz="1000" dirty="0"/>
          </a:p>
          <a:p>
            <a:r>
              <a:rPr lang="en-US" sz="1000" dirty="0"/>
              <a:t>Base patch decisions on authoritative CVE data (severity, affected packages, IDs), not raw command output or custom scripts.</a:t>
            </a:r>
          </a:p>
          <a:p>
            <a:r>
              <a:rPr lang="en-US" sz="1000" b="1" dirty="0"/>
              <a:t>Scale across the fleet</a:t>
            </a:r>
            <a:endParaRPr lang="en-US" sz="1000" dirty="0"/>
          </a:p>
          <a:p>
            <a:r>
              <a:rPr lang="en-US" sz="1000" dirty="0"/>
              <a:t>Support RHEL8 and Windows across many instances without manual per-instance work.</a:t>
            </a:r>
          </a:p>
          <a:p>
            <a:endParaRPr sz="1000" dirty="0">
              <a:latin typeface="Courier New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2: The Problem –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000">
                <a:latin typeface="Courier New"/>
              </a:rPr>
              <a:t>flowchart LR</a:t>
            </a:r>
          </a:p>
          <a:p>
            <a:r>
              <a:rPr sz="1000">
                <a:latin typeface="Courier New"/>
              </a:rPr>
              <a:t>    subgraph Problems["The Problem"]</a:t>
            </a:r>
          </a:p>
          <a:p>
            <a:r>
              <a:rPr sz="1000">
                <a:latin typeface="Courier New"/>
              </a:rPr>
              <a:t>        P1["Manual patching&lt;br/&gt;Error-prone, doesn't scale"]</a:t>
            </a:r>
          </a:p>
          <a:p>
            <a:r>
              <a:rPr sz="1000">
                <a:latin typeface="Courier New"/>
              </a:rPr>
              <a:t>        P2["Blind automation&lt;br/&gt;Unnecessary risk"]</a:t>
            </a:r>
          </a:p>
          <a:p>
            <a:r>
              <a:rPr sz="1000">
                <a:latin typeface="Courier New"/>
              </a:rPr>
              <a:t>        P3["Pre-patch scripts&lt;br/&gt;Inconsistent, hard to maintain"]</a:t>
            </a:r>
          </a:p>
          <a:p>
            <a:r>
              <a:rPr sz="1000">
                <a:latin typeface="Courier New"/>
              </a:rPr>
              <a:t>        P4["Need smart decision&lt;br/&gt;When to patch?"]</a:t>
            </a:r>
          </a:p>
          <a:p>
            <a:r>
              <a:rPr sz="1000">
                <a:latin typeface="Courier New"/>
              </a:rPr>
              <a:t>    end</a:t>
            </a:r>
          </a:p>
          <a:p>
            <a:r>
              <a:rPr sz="1000">
                <a:latin typeface="Courier New"/>
              </a:rPr>
              <a:t>    P1 --&gt; P4</a:t>
            </a:r>
          </a:p>
          <a:p>
            <a:r>
              <a:rPr sz="1000">
                <a:latin typeface="Courier New"/>
              </a:rPr>
              <a:t>    P2 --&gt; P4</a:t>
            </a:r>
          </a:p>
          <a:p>
            <a:r>
              <a:rPr sz="1000">
                <a:latin typeface="Courier New"/>
              </a:rPr>
              <a:t>    P3 --&gt; P4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Slide 3: The Solution – High-Level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000">
                <a:latin typeface="Courier New"/>
              </a:rPr>
              <a:t>flowchart TB</a:t>
            </a:r>
          </a:p>
          <a:p>
            <a:r>
              <a:rPr sz="1000">
                <a:latin typeface="Courier New"/>
              </a:rPr>
              <a:t>    EB["EventBridge&lt;br/&gt;monthly schedule"]</a:t>
            </a:r>
          </a:p>
          <a:p>
            <a:r>
              <a:rPr sz="1000">
                <a:latin typeface="Courier New"/>
              </a:rPr>
              <a:t>    SF["Step Functions"]</a:t>
            </a:r>
          </a:p>
          <a:p>
            <a:r>
              <a:rPr sz="1000">
                <a:latin typeface="Courier New"/>
              </a:rPr>
              <a:t>    L1["1. Fetch Inspector findings&lt;br/&gt;Lambda"]</a:t>
            </a:r>
          </a:p>
          <a:p>
            <a:r>
              <a:rPr sz="1000">
                <a:latin typeface="Courier New"/>
              </a:rPr>
              <a:t>    L2["2. Analyze with Bedrock&lt;br/&gt;Lambda"]</a:t>
            </a:r>
          </a:p>
          <a:p>
            <a:r>
              <a:rPr sz="1000">
                <a:latin typeface="Courier New"/>
              </a:rPr>
              <a:t>    CHOICE{"3. Critical CVEs?"}</a:t>
            </a:r>
          </a:p>
          <a:p>
            <a:r>
              <a:rPr sz="1000">
                <a:latin typeface="Courier New"/>
              </a:rPr>
              <a:t>    APPLY["4. Apply patches&lt;br/&gt;Parallel: RHEL + Windows via SSM&lt;br/&gt;Circuit-breaker check, pre-patch AMIs"]</a:t>
            </a:r>
          </a:p>
          <a:p>
            <a:r>
              <a:rPr sz="1000">
                <a:latin typeface="Courier New"/>
              </a:rPr>
              <a:t>    POST["5. Post-patch verification&lt;br/&gt;Parallel"]</a:t>
            </a:r>
          </a:p>
          <a:p>
            <a:r>
              <a:rPr sz="1000">
                <a:latin typeface="Courier New"/>
              </a:rPr>
              <a:t>    SKIP["NotifyNoPatch&lt;br/&gt;Skip"]</a:t>
            </a:r>
          </a:p>
          <a:p>
            <a:r>
              <a:rPr sz="1000">
                <a:latin typeface="Courier New"/>
              </a:rPr>
              <a:t>    CB["Circuit-breaker: EC2 stopped → block CVE"]</a:t>
            </a:r>
          </a:p>
          <a:p>
            <a:r>
              <a:rPr sz="1000">
                <a:latin typeface="Courier New"/>
              </a:rPr>
              <a:t>    AMI["AMI cleanup: daily"]</a:t>
            </a:r>
          </a:p>
          <a:p>
            <a:endParaRPr sz="1000">
              <a:latin typeface="Courier New"/>
            </a:endParaRPr>
          </a:p>
          <a:p>
            <a:r>
              <a:rPr sz="1000">
                <a:latin typeface="Courier New"/>
              </a:rPr>
              <a:t>    EB --&gt;|Trigger| SF</a:t>
            </a:r>
          </a:p>
          <a:p>
            <a:r>
              <a:rPr sz="1000">
                <a:latin typeface="Courier New"/>
              </a:rPr>
              <a:t>    SF --&gt; L1</a:t>
            </a:r>
          </a:p>
          <a:p>
            <a:r>
              <a:rPr sz="1000">
                <a:latin typeface="Courier New"/>
              </a:rPr>
              <a:t>    L1 --&gt; L2</a:t>
            </a:r>
          </a:p>
          <a:p>
            <a:r>
              <a:rPr sz="1000">
                <a:latin typeface="Courier New"/>
              </a:rPr>
              <a:t>    L2 --&gt; CHOICE</a:t>
            </a:r>
          </a:p>
          <a:p>
            <a:r>
              <a:rPr sz="1000">
                <a:latin typeface="Courier New"/>
              </a:rPr>
              <a:t>    CHOICE --&gt;|Yes| APPLY</a:t>
            </a:r>
          </a:p>
          <a:p>
            <a:r>
              <a:rPr sz="1000">
                <a:latin typeface="Courier New"/>
              </a:rPr>
              <a:t>    CHOICE --&gt;|No| SKIP</a:t>
            </a:r>
          </a:p>
          <a:p>
            <a:r>
              <a:rPr sz="1000">
                <a:latin typeface="Courier New"/>
              </a:rPr>
              <a:t>    APPLY --&gt; POST</a:t>
            </a:r>
          </a:p>
          <a:p>
            <a:r>
              <a:rPr sz="1000">
                <a:latin typeface="Courier New"/>
              </a:rPr>
              <a:t>    APPLY -.-&gt;|on failure| CB</a:t>
            </a:r>
          </a:p>
          <a:p>
            <a:r>
              <a:rPr sz="1000">
                <a:latin typeface="Courier New"/>
              </a:rPr>
              <a:t>    CB -.-&gt; AMI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Slide 4: Architecture –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sz="1000">
                <a:latin typeface="Courier New"/>
              </a:rPr>
              <a:t>flowchart TB</a:t>
            </a:r>
          </a:p>
          <a:p>
            <a:r>
              <a:rPr sz="1000">
                <a:latin typeface="Courier New"/>
              </a:rPr>
              <a:t>    subgraph Data["Data Layer"]</a:t>
            </a:r>
          </a:p>
          <a:p>
            <a:r>
              <a:rPr sz="1000">
                <a:latin typeface="Courier New"/>
              </a:rPr>
              <a:t>        INSP["Amazon Inspector v2&lt;br/&gt;Discovers EC2, scans CVEs, stores findings"]</a:t>
            </a:r>
          </a:p>
          <a:p>
            <a:r>
              <a:rPr sz="1000">
                <a:latin typeface="Courier New"/>
              </a:rPr>
              <a:t>    end</a:t>
            </a:r>
          </a:p>
          <a:p>
            <a:endParaRPr sz="1000">
              <a:latin typeface="Courier New"/>
            </a:endParaRPr>
          </a:p>
          <a:p>
            <a:r>
              <a:rPr sz="1000">
                <a:latin typeface="Courier New"/>
              </a:rPr>
              <a:t>    subgraph Orchestration["Orchestration"]</a:t>
            </a:r>
          </a:p>
          <a:p>
            <a:r>
              <a:rPr sz="1000">
                <a:latin typeface="Courier New"/>
              </a:rPr>
              <a:t>        SF["Step Functions&lt;br/&gt;Orchestrates, Choice gates patching"]</a:t>
            </a:r>
          </a:p>
          <a:p>
            <a:r>
              <a:rPr sz="1000">
                <a:latin typeface="Courier New"/>
              </a:rPr>
              <a:t>    end</a:t>
            </a:r>
          </a:p>
          <a:p>
            <a:endParaRPr sz="1000">
              <a:latin typeface="Courier New"/>
            </a:endParaRPr>
          </a:p>
          <a:p>
            <a:r>
              <a:rPr sz="1000">
                <a:latin typeface="Courier New"/>
              </a:rPr>
              <a:t>    subgraph Lambdas["Lambda Layer"]</a:t>
            </a:r>
          </a:p>
          <a:p>
            <a:r>
              <a:rPr sz="1000">
                <a:latin typeface="Courier New"/>
              </a:rPr>
              <a:t>        L_INSP["Inspector Findings Lambda&lt;br/&gt;ListFindings API, filter by VPC"]</a:t>
            </a:r>
          </a:p>
          <a:p>
            <a:r>
              <a:rPr sz="1000">
                <a:latin typeface="Courier New"/>
              </a:rPr>
              <a:t>        L_ANALYZER["CVE Analyzer Lambda&lt;br/&gt;Bedrock → has_critical_cves"]</a:t>
            </a:r>
          </a:p>
          <a:p>
            <a:r>
              <a:rPr sz="1000">
                <a:latin typeface="Courier New"/>
              </a:rPr>
              <a:t>        L_SSM["SSM Runner Lambda&lt;br/&gt;Invokes SSM Run Command"]</a:t>
            </a:r>
          </a:p>
          <a:p>
            <a:r>
              <a:rPr sz="1000">
                <a:latin typeface="Courier New"/>
              </a:rPr>
              <a:t>    end</a:t>
            </a:r>
          </a:p>
          <a:p>
            <a:endParaRPr sz="1000">
              <a:latin typeface="Courier New"/>
            </a:endParaRPr>
          </a:p>
          <a:p>
            <a:r>
              <a:rPr sz="1000">
                <a:latin typeface="Courier New"/>
              </a:rPr>
              <a:t>    subgraph AI["AI"]</a:t>
            </a:r>
          </a:p>
          <a:p>
            <a:r>
              <a:rPr sz="1000">
                <a:latin typeface="Courier New"/>
              </a:rPr>
              <a:t>        BEDROCK["Bedrock&lt;br/&gt;Analyzes severity, patch/no-patch"]</a:t>
            </a:r>
          </a:p>
          <a:p>
            <a:r>
              <a:rPr sz="1000">
                <a:latin typeface="Courier New"/>
              </a:rPr>
              <a:t>    end</a:t>
            </a:r>
          </a:p>
          <a:p>
            <a:endParaRPr sz="1000">
              <a:latin typeface="Courier New"/>
            </a:endParaRPr>
          </a:p>
          <a:p>
            <a:r>
              <a:rPr sz="1000">
                <a:latin typeface="Courier New"/>
              </a:rPr>
              <a:t>    subgraph Execution["Execution"]</a:t>
            </a:r>
          </a:p>
          <a:p>
            <a:r>
              <a:rPr sz="1000">
                <a:latin typeface="Courier New"/>
              </a:rPr>
              <a:t>        SSM["Systems Manager&lt;br/&gt;dnf update --security (RHEL)&lt;br/&gt;Patch Baseline (Windows)"]</a:t>
            </a:r>
          </a:p>
          <a:p>
            <a:r>
              <a:rPr sz="1000">
                <a:latin typeface="Courier New"/>
              </a:rPr>
              <a:t>    end</a:t>
            </a:r>
          </a:p>
          <a:p>
            <a:endParaRPr sz="1000">
              <a:latin typeface="Courier New"/>
            </a:endParaRPr>
          </a:p>
          <a:p>
            <a:r>
              <a:rPr sz="1000">
                <a:latin typeface="Courier New"/>
              </a:rPr>
              <a:t>    SF --&gt; L_INSP</a:t>
            </a:r>
          </a:p>
          <a:p>
            <a:r>
              <a:rPr sz="1000">
                <a:latin typeface="Courier New"/>
              </a:rPr>
              <a:t>    L_INSP --&gt; INSP</a:t>
            </a:r>
          </a:p>
          <a:p>
            <a:r>
              <a:rPr sz="1000">
                <a:latin typeface="Courier New"/>
              </a:rPr>
              <a:t>    SF --&gt; L_ANALYZER</a:t>
            </a:r>
          </a:p>
          <a:p>
            <a:r>
              <a:rPr sz="1000">
                <a:latin typeface="Courier New"/>
              </a:rPr>
              <a:t>    L_ANALYZER --&gt; BEDROCK</a:t>
            </a:r>
          </a:p>
          <a:p>
            <a:r>
              <a:rPr sz="1000">
                <a:latin typeface="Courier New"/>
              </a:rPr>
              <a:t>    SF --&gt; L_SSM</a:t>
            </a:r>
          </a:p>
          <a:p>
            <a:r>
              <a:rPr sz="1000">
                <a:latin typeface="Courier New"/>
              </a:rPr>
              <a:t>    L_SSM --&gt; SSM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896</Words>
  <Application>Microsoft Macintosh PowerPoint</Application>
  <PresentationFormat>On-screen Show (4:3)</PresentationFormat>
  <Paragraphs>113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Courier New</vt:lpstr>
      <vt:lpstr>Office Theme</vt:lpstr>
      <vt:lpstr>AIOps RHEL8 &amp; Windows Production-Safe CVE Patching</vt:lpstr>
      <vt:lpstr>Current Architecture</vt:lpstr>
      <vt:lpstr>PowerPoint Presentation</vt:lpstr>
      <vt:lpstr>PowerPoint Presentation</vt:lpstr>
      <vt:lpstr>PowerPoint Presentation</vt:lpstr>
      <vt:lpstr>Component Stack</vt:lpstr>
      <vt:lpstr>Slide 2: The Problem – Pain Points</vt:lpstr>
      <vt:lpstr>Slide 3: The Solution – High-Level Flow</vt:lpstr>
      <vt:lpstr>Slide 4: Architecture – Key Components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Chandra Kumar Bitra</cp:lastModifiedBy>
  <cp:revision>6</cp:revision>
  <dcterms:created xsi:type="dcterms:W3CDTF">2013-01-27T09:14:16Z</dcterms:created>
  <dcterms:modified xsi:type="dcterms:W3CDTF">2026-03-11T02:52:12Z</dcterms:modified>
  <cp:category/>
</cp:coreProperties>
</file>